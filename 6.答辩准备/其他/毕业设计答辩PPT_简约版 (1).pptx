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IMPLE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F6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857232" y="502920"/>
            <a:ext cx="1508760" cy="1508760"/>
          </a:xfrm>
          <a:prstGeom prst="ellipse">
            <a:avLst/>
          </a:prstGeom>
          <a:solidFill>
            <a:srgbClr val="DBEAFE">
              <a:alpha val="9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4800600"/>
            <a:ext cx="1417320" cy="1417320"/>
          </a:xfrm>
          <a:prstGeom prst="ellipse">
            <a:avLst/>
          </a:prstGeom>
          <a:solidFill>
            <a:srgbClr val="CCFBF1">
              <a:alpha val="8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621792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2563EB">
              <a:alpha val="9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685800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58368" y="1353312"/>
            <a:ext cx="87325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基于时序预测的门诊挂号与电子病历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一体化管理系统的设计与实现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76656" y="2779776"/>
            <a:ext cx="8183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Design and Implementation of an Integrated Outpatient Registration and EMR Management System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76656" y="3246120"/>
            <a:ext cx="13716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6656" y="5257800"/>
            <a:ext cx="49377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学院：计算机学院    班级：本22医信01班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学生：瞿志杰    指导教师：肖俏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76656" y="5998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2026 年 5 月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汇报目录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围绕“为什么做、怎么做、做得怎样”展开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822960" y="1417320"/>
            <a:ext cx="10287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618488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783080" y="1572768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研究背景与目标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663440" y="1591056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问题来源、研究意义、设计目标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2404872"/>
            <a:ext cx="10287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606040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783080" y="2560320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系统分析与设计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663440" y="2578608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角色需求、架构设计、数据库设计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22960" y="3392424"/>
            <a:ext cx="10287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5935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783080" y="3547872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系统实现与预测模块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4663440" y="356616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核心功能、认证机制、SARIMA预测与排班推荐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22960" y="4379976"/>
            <a:ext cx="10287000" cy="804672"/>
          </a:xfrm>
          <a:prstGeom prst="roundRect">
            <a:avLst>
              <a:gd name="adj" fmla="val 5682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581144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783080" y="4535424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测试结论与展望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663440" y="455371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功能测试、性能安全测试、不足与改进方向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研究背景与问题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门诊业务从“分散处理”走向“一体协同”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3232" y="1993392"/>
            <a:ext cx="205740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993392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1579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系统分立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77824" y="2468880"/>
            <a:ext cx="1783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挂号、排班、病历等模块分散运行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2871216" y="2560320"/>
            <a:ext cx="3474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310128" y="1993392"/>
            <a:ext cx="2057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10128" y="1993392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74720" y="21579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数据孤岛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474720" y="2468880"/>
            <a:ext cx="1783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信息流转慢，诊疗记录难以联动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5468112" y="2560320"/>
            <a:ext cx="3474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907024" y="1993392"/>
            <a:ext cx="2057400" cy="114300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7024" y="1993392"/>
            <a:ext cx="73152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71616" y="21579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排班经验化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071616" y="2468880"/>
            <a:ext cx="1783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资源配置主要依赖人工判断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8065008" y="2560320"/>
            <a:ext cx="347472" cy="0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503920" y="1993392"/>
            <a:ext cx="205740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1993392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68512" y="2157984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服务效率受限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668512" y="2468880"/>
            <a:ext cx="178308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患者等待、医生接诊和管理决策受影响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822960" y="4160520"/>
            <a:ext cx="10241280" cy="1024128"/>
          </a:xfrm>
          <a:prstGeom prst="roundRect">
            <a:avLst>
              <a:gd name="adj" fmla="val 4464"/>
            </a:avLst>
          </a:prstGeom>
          <a:solidFill>
            <a:srgbClr val="EE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43000" y="4480560"/>
            <a:ext cx="9555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本课题将门诊挂号、医生排班、电子病历和权限认证集成到同一业务系统，并引入时间序列预测，为门诊资源调配提供辅助决策依据。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研究意义与设计目标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从患者体验、医院管理和系统架构三个层面展开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1508760"/>
            <a:ext cx="3246120" cy="34747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24128" y="17830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72768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改善就医流程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143000" y="2496312"/>
            <a:ext cx="2560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预约挂号、分时段就诊、病历快速查询，减少线下排队与重复填写。</a:t>
            </a:r>
            <a:endParaRPr lang="en-US" sz="1380" dirty="0"/>
          </a:p>
        </p:txBody>
      </p:sp>
      <p:sp>
        <p:nvSpPr>
          <p:cNvPr id="14" name="Shape 12"/>
          <p:cNvSpPr/>
          <p:nvPr/>
        </p:nvSpPr>
        <p:spPr>
          <a:xfrm>
            <a:off x="4526280" y="1508760"/>
            <a:ext cx="3246120" cy="34747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27448" y="17830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2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276088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提高资源利用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496312"/>
            <a:ext cx="2560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基于挂号量预测辅助排班，为门诊人力和号源配置提供参考。</a:t>
            </a:r>
            <a:endParaRPr lang="en-US" sz="1380" dirty="0"/>
          </a:p>
        </p:txBody>
      </p:sp>
      <p:sp>
        <p:nvSpPr>
          <p:cNvPr id="18" name="Shape 16"/>
          <p:cNvSpPr/>
          <p:nvPr/>
        </p:nvSpPr>
        <p:spPr>
          <a:xfrm>
            <a:off x="8229600" y="1508760"/>
            <a:ext cx="3246120" cy="3474720"/>
          </a:xfrm>
          <a:prstGeom prst="roundRect">
            <a:avLst>
              <a:gd name="adj" fmla="val 140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1783080"/>
            <a:ext cx="3840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979408" y="17922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提升系统能力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8549640" y="2496312"/>
            <a:ext cx="2560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前后端分离、权限认证与缓存机制，提高可维护性、安全性和响应效率。</a:t>
            </a:r>
            <a:endParaRPr lang="en-US" sz="13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研究内容与技术路线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“业务系统开发 + 预测模型建模 + 测试验证”的组合路径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路线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49808" y="1993392"/>
            <a:ext cx="19933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0976" y="22494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需求分析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2706624"/>
            <a:ext cx="1664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角色、功能、非功能需求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79776" y="2660904"/>
            <a:ext cx="1463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71800" y="1993392"/>
            <a:ext cx="19933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72968" y="22494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系统设计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136392" y="2706624"/>
            <a:ext cx="1664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架构、模块、数据库、安全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001768" y="2660904"/>
            <a:ext cx="1463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193792" y="1993392"/>
            <a:ext cx="19933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22494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功能实现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5358384" y="2706624"/>
            <a:ext cx="1664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挂号、排班、病历、认证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23760" y="2660904"/>
            <a:ext cx="1463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15784" y="1993392"/>
            <a:ext cx="1993392" cy="1325880"/>
          </a:xfrm>
          <a:prstGeom prst="roundRect">
            <a:avLst>
              <a:gd name="adj" fmla="val 3448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16952" y="22494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预测建模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580376" y="2706624"/>
            <a:ext cx="1664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数据分析、SARIMA、误差评估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9445752" y="2660904"/>
            <a:ext cx="146304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37776" y="1993392"/>
            <a:ext cx="1993392" cy="132588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38944" y="2249424"/>
            <a:ext cx="1591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测试优化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802368" y="2706624"/>
            <a:ext cx="1664208" cy="3657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功能、性能、安全、推荐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1325880" y="4480560"/>
            <a:ext cx="9235440" cy="658368"/>
          </a:xfrm>
          <a:prstGeom prst="roundRect">
            <a:avLst>
              <a:gd name="adj" fmla="val 6944"/>
            </a:avLst>
          </a:prstGeom>
          <a:solidFill>
            <a:srgbClr val="F8FAFC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4690872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核心思路：先建立门诊业务一体化平台，再利用历史挂号数据进行趋势预测，最后将预测结果转化为排班建议。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需求分析：三类用户协同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围绕患者预约、医生接诊、管理员维护形成闭环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需求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1645920"/>
            <a:ext cx="31546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1645920"/>
            <a:ext cx="73152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181051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普通用户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7552" y="2121408"/>
            <a:ext cx="28803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注册登录 / 就诊人维护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预约挂号 / 病历查询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572000" y="1645920"/>
            <a:ext cx="31546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0" y="1645920"/>
            <a:ext cx="73152" cy="18288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181051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医生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736592" y="2121408"/>
            <a:ext cx="28803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查看排班 / 接诊患者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录入病历 / 查询病历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8321040" y="1645920"/>
            <a:ext cx="315468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1645920"/>
            <a:ext cx="73152" cy="18288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85632" y="181051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管理员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485632" y="2121408"/>
            <a:ext cx="2880360" cy="12984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账号维护 / 科室医生维护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排班管理 / 号源配置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2377440" y="3913632"/>
            <a:ext cx="25146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126480" y="3913632"/>
            <a:ext cx="251460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691640" y="4443984"/>
            <a:ext cx="8778240" cy="749808"/>
          </a:xfrm>
          <a:prstGeom prst="roundRect">
            <a:avLst>
              <a:gd name="adj" fmla="val 609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46908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挂号信息 → 接诊与病历 → 排班与号源调整：业务数据在同一系统内流转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关键技术选型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以稳定、可维护和可扩展为原则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0120" y="1325880"/>
            <a:ext cx="9966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50876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前端展示层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337560" y="149961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 3 + Element Plus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897880" y="1508760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组件化界面、路由管理、交互体验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60120" y="2368296"/>
            <a:ext cx="9966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34440" y="25511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业务服务层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337560" y="254203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Spring Boot + MyBatis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5897880" y="2551176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RESTful接口、业务逻辑、数据访问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960120" y="3410712"/>
            <a:ext cx="99669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234440" y="3593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数据与认证层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3337560" y="35844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MySQL + Redis + JWT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897880" y="3593592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数据持久化、Token缓存、权限校验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960120" y="4453128"/>
            <a:ext cx="9966960" cy="749808"/>
          </a:xfrm>
          <a:prstGeom prst="roundRect">
            <a:avLst>
              <a:gd name="adj" fmla="val 6098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34440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预测服务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3337560" y="4626864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Python + Flask + statsmodels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5897880" y="4636008"/>
            <a:ext cx="4389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SARIMA模型训练、预测结果输出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系统总体架构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B/S结构下的前后端分离与预测服务协同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22960" y="2148840"/>
            <a:ext cx="214884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214884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7552" y="231343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用户端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87552" y="2624328"/>
            <a:ext cx="187452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浏览器 / 前端页面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Vue + Axios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3657600" y="1417320"/>
            <a:ext cx="242316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0" y="1417320"/>
            <a:ext cx="73152" cy="114300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22192" y="158191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后端服务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822192" y="1892808"/>
            <a:ext cx="21488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Spring Boot REST API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业务逻辑 + 权限控制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3657600" y="2971800"/>
            <a:ext cx="2423160" cy="1143000"/>
          </a:xfrm>
          <a:prstGeom prst="roundRect">
            <a:avLst>
              <a:gd name="adj" fmla="val 4000"/>
            </a:avLst>
          </a:prstGeom>
          <a:solidFill>
            <a:srgbClr val="ECFE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0" y="2971800"/>
            <a:ext cx="73152" cy="114300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22192" y="313639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预测服务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822192" y="3447288"/>
            <a:ext cx="214884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Flask API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SARIMA建模与预测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6720840" y="214884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20840" y="2148840"/>
            <a:ext cx="73152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85432" y="23134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885432" y="2624328"/>
            <a:ext cx="20574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MySQL 主数据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 Token缓存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9646920" y="214884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46920" y="2148840"/>
            <a:ext cx="73152" cy="1143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11512" y="231343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业务结果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9811512" y="2624328"/>
            <a:ext cx="1600200" cy="612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挂号记录 / 病历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排班建议 / 统计展示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2971800" y="2724912"/>
            <a:ext cx="640080" cy="-7315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2971800" y="2724912"/>
            <a:ext cx="640080" cy="768096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080760" y="1993392"/>
            <a:ext cx="594360" cy="54864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080760" y="3520440"/>
            <a:ext cx="594360" cy="-73152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52560" y="2724912"/>
            <a:ext cx="548640" cy="0"/>
          </a:xfrm>
          <a:prstGeom prst="line">
            <a:avLst/>
          </a:prstGeom>
          <a:noFill/>
          <a:ln w="1397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1188720" y="4892040"/>
            <a:ext cx="9692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架构优势：职责清晰、模块解耦、便于维护与功能扩展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系统功能模块设计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四个核心业务模块 + 一个智能预测辅助模块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模块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846320" y="2898648"/>
            <a:ext cx="2286000" cy="822960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3209544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一体化门诊管理平台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011680" y="132588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011680" y="1325880"/>
            <a:ext cx="73152" cy="105156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4904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用户管理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176272" y="1801368"/>
            <a:ext cx="20574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注册登录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就诊人维护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4389120" y="1856232"/>
            <a:ext cx="457200" cy="145389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458200" y="132588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58200" y="1325880"/>
            <a:ext cx="73152" cy="105156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22792" y="149047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挂号管理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622792" y="1801368"/>
            <a:ext cx="20574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预约挂号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号源与记录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412480" y="1856232"/>
            <a:ext cx="-1280160" cy="1453896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2011680" y="443484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011680" y="4434840"/>
            <a:ext cx="73152" cy="105156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176272" y="45994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医生排班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176272" y="4910328"/>
            <a:ext cx="20574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出诊安排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排班维护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4389120" y="4965192"/>
            <a:ext cx="457200" cy="-165506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458200" y="443484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458200" y="4434840"/>
            <a:ext cx="73152" cy="105156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22792" y="45994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电子病历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622792" y="4910328"/>
            <a:ext cx="20574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病历录入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诊疗记录查询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8412480" y="4965192"/>
            <a:ext cx="-1280160" cy="-165506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4709160" y="4892040"/>
            <a:ext cx="233172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09160" y="4892040"/>
            <a:ext cx="73152" cy="105156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73752" y="505663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预测推荐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4873752" y="5367528"/>
            <a:ext cx="2057400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挂号量预测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排班建议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7086600" y="5422392"/>
            <a:ext cx="-2240280" cy="-2112264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数据库设计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围绕账号、医生、患者、挂号、排班、病历建立关联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数据库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1508760"/>
            <a:ext cx="17373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508760"/>
            <a:ext cx="73152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16733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user_base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1984248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账号基础信息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2926080" y="2788920"/>
            <a:ext cx="17373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26080" y="2788920"/>
            <a:ext cx="73152" cy="786384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29535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patient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090672" y="3264408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就诊人信息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2926080" y="1508760"/>
            <a:ext cx="17373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926080" y="1508760"/>
            <a:ext cx="73152" cy="786384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90672" y="16733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doctor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90672" y="1984248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医生与科室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5120640" y="1508760"/>
            <a:ext cx="17373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1508760"/>
            <a:ext cx="73152" cy="786384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85232" y="167335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schedule_slot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285232" y="1984248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排班与号源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7269480" y="2148840"/>
            <a:ext cx="17373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69480" y="2148840"/>
            <a:ext cx="73152" cy="786384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34072" y="23134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appointment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434072" y="2624328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挂号记录</a:t>
            </a:r>
            <a:endParaRPr lang="en-US" sz="1180" dirty="0"/>
          </a:p>
        </p:txBody>
      </p:sp>
      <p:sp>
        <p:nvSpPr>
          <p:cNvPr id="30" name="Shape 28"/>
          <p:cNvSpPr/>
          <p:nvPr/>
        </p:nvSpPr>
        <p:spPr>
          <a:xfrm>
            <a:off x="9372600" y="2148840"/>
            <a:ext cx="1737360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372600" y="2148840"/>
            <a:ext cx="73152" cy="786384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37192" y="231343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emr_record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537192" y="2624328"/>
            <a:ext cx="14630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电子病历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2606040" y="1901952"/>
            <a:ext cx="2743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2606040" y="1901952"/>
            <a:ext cx="274320" cy="1280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4663440" y="1901952"/>
            <a:ext cx="411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6858000" y="1901952"/>
            <a:ext cx="365760" cy="64008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9006840" y="2542032"/>
            <a:ext cx="32004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97280" y="4892040"/>
            <a:ext cx="9966960" cy="640080"/>
          </a:xfrm>
          <a:prstGeom prst="roundRect">
            <a:avLst>
              <a:gd name="adj" fmla="val 7143"/>
            </a:avLst>
          </a:prstGeom>
          <a:solidFill>
            <a:srgbClr val="F8FAFC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17320" y="5102352"/>
            <a:ext cx="93268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设计原则：减少冗余、保证业务关联、支持挂号记录与电子病历之间的数据追溯。</a:t>
            </a:r>
            <a:endParaRPr lang="en-US" sz="14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核心业务流程实现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从预约挂号到病历记录的闭环流程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85800" y="2121408"/>
            <a:ext cx="187452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404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注册/登录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22960" y="27614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账号验证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获取Token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2587752" y="2724912"/>
            <a:ext cx="310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953512" y="2121408"/>
            <a:ext cx="187452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090672" y="2404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维护就诊人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090672" y="27614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添加患者信息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选择就诊对象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4855464" y="2724912"/>
            <a:ext cx="310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221224" y="2121408"/>
            <a:ext cx="1874520" cy="1207008"/>
          </a:xfrm>
          <a:prstGeom prst="roundRect">
            <a:avLst>
              <a:gd name="adj" fmla="val 3788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58384" y="2404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预约挂号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358384" y="27614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选择科室医生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提交号源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23176" y="2724912"/>
            <a:ext cx="310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88936" y="2121408"/>
            <a:ext cx="187452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26096" y="2404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医生接诊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7626096" y="27614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查看挂号记录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录入诊疗信息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9390888" y="2724912"/>
            <a:ext cx="310896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756648" y="2121408"/>
            <a:ext cx="1874520" cy="1207008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93808" y="240487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病历查询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9893808" y="2761488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保存病历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形成历史记录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1371600" y="4645152"/>
            <a:ext cx="9326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实现重点：号源实时更新、挂号记录追踪、病历与预约信息关联。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权限认证机制实现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JWT + Redis 双Token机制保障访问控制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187452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874520"/>
            <a:ext cx="73152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20391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登录请求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2350008"/>
            <a:ext cx="155448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用户名/密码提交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3337560" y="187452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37560" y="1874520"/>
            <a:ext cx="73152" cy="86868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02152" y="20391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后端校验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02152" y="2350008"/>
            <a:ext cx="155448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BCrypt验证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角色授权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5806440" y="187452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1874520"/>
            <a:ext cx="73152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71032" y="20391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签发Token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971032" y="2350008"/>
            <a:ext cx="155448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Access Token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Refresh Token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8275320" y="1874520"/>
            <a:ext cx="182880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75320" y="187452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39912" y="203911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Redis管理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439912" y="2350008"/>
            <a:ext cx="155448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Refresh Token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集中存储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2697480" y="2304288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166360" y="2304288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635240" y="2304288"/>
            <a:ext cx="5943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234440" y="4160520"/>
            <a:ext cx="9738360" cy="868680"/>
          </a:xfrm>
          <a:prstGeom prst="roundRect">
            <a:avLst>
              <a:gd name="adj" fmla="val 5263"/>
            </a:avLst>
          </a:prstGeom>
          <a:solidFill>
            <a:srgbClr val="EE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00200" y="4443984"/>
            <a:ext cx="9006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Access Token 用于接口鉴权；Refresh Token 存入 Redis，用于刷新会话与控制令牌有效性。</a:t>
            </a:r>
            <a:endParaRPr lang="en-US" sz="15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时间序列预测模块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以仿真挂号数据为基础，提取周期规律并输出预测结果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05840" y="1234440"/>
            <a:ext cx="24231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1234440"/>
            <a:ext cx="73152" cy="749808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70432" y="139903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数据来源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70432" y="1709928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appointment表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仿真挂号数据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2212848" y="2002536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005840" y="2148840"/>
            <a:ext cx="24231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2148840"/>
            <a:ext cx="73152" cy="749808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70432" y="231343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数据预处理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70432" y="2624328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按日汇总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缺失与异常处理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2212848" y="2916936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05840" y="3063240"/>
            <a:ext cx="2423160" cy="749808"/>
          </a:xfrm>
          <a:prstGeom prst="roundRect">
            <a:avLst>
              <a:gd name="adj" fmla="val 6098"/>
            </a:avLst>
          </a:prstGeom>
          <a:solidFill>
            <a:srgbClr val="ECFE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063240"/>
            <a:ext cx="73152" cy="749808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70432" y="322783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模型建立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70432" y="3538728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SARIMA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季节周期s=7</a:t>
            </a:r>
            <a:endParaRPr lang="en-US" sz="1180" dirty="0"/>
          </a:p>
        </p:txBody>
      </p:sp>
      <p:sp>
        <p:nvSpPr>
          <p:cNvPr id="24" name="Shape 22"/>
          <p:cNvSpPr/>
          <p:nvPr/>
        </p:nvSpPr>
        <p:spPr>
          <a:xfrm>
            <a:off x="2212848" y="3831336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005840" y="3977640"/>
            <a:ext cx="24231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977640"/>
            <a:ext cx="73152" cy="74980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70432" y="414223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结果评估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70432" y="4453128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MSE / RMSE / MAE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残差检验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2212848" y="4745736"/>
            <a:ext cx="0" cy="13716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005840" y="4892040"/>
            <a:ext cx="2423160" cy="749808"/>
          </a:xfrm>
          <a:prstGeom prst="roundRect">
            <a:avLst>
              <a:gd name="adj" fmla="val 6098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4892040"/>
            <a:ext cx="73152" cy="749808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70432" y="5056632"/>
            <a:ext cx="2148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排班推荐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170432" y="5367528"/>
            <a:ext cx="2148840" cy="2194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高/中/低负荷</a:t>
            </a:r>
            <a:endParaRPr lang="en-US" sz="1180" dirty="0"/>
          </a:p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推荐医生数</a:t>
            </a:r>
            <a:endParaRPr lang="en-US" sz="1180" dirty="0"/>
          </a:p>
        </p:txBody>
      </p:sp>
      <p:sp>
        <p:nvSpPr>
          <p:cNvPr id="34" name="Shape 32"/>
          <p:cNvSpPr/>
          <p:nvPr/>
        </p:nvSpPr>
        <p:spPr>
          <a:xfrm>
            <a:off x="4572000" y="1325880"/>
            <a:ext cx="6355080" cy="3977640"/>
          </a:xfrm>
          <a:prstGeom prst="roundRect">
            <a:avLst>
              <a:gd name="adj" fmla="val 1149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1664208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挂号量变化的典型特征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956048" y="4800600"/>
            <a:ext cx="5303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956048" y="4800600"/>
            <a:ext cx="0" cy="-251460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56048" y="3749040"/>
            <a:ext cx="193040" cy="-182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149088" y="3566160"/>
            <a:ext cx="193040" cy="-137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342128" y="3429000"/>
            <a:ext cx="193040" cy="-137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535168" y="3291840"/>
            <a:ext cx="193040" cy="3657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28208" y="3657600"/>
            <a:ext cx="193040" cy="8229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921248" y="4480560"/>
            <a:ext cx="193040" cy="914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114288" y="4572000"/>
            <a:ext cx="193040" cy="-10972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307328" y="3474720"/>
            <a:ext cx="193040" cy="-137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00368" y="3337560"/>
            <a:ext cx="193040" cy="-182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693408" y="3154680"/>
            <a:ext cx="193040" cy="-182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886448" y="2971800"/>
            <a:ext cx="193040" cy="5486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079488" y="3520440"/>
            <a:ext cx="193040" cy="8686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272528" y="4389120"/>
            <a:ext cx="193040" cy="914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465568" y="4480560"/>
            <a:ext cx="193040" cy="-1280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658608" y="3200400"/>
            <a:ext cx="193040" cy="-182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851648" y="3017520"/>
            <a:ext cx="193040" cy="-182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044688" y="2834640"/>
            <a:ext cx="193040" cy="-13716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237728" y="2697480"/>
            <a:ext cx="193040" cy="5029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430768" y="3200400"/>
            <a:ext cx="193040" cy="10058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23808" y="4206240"/>
            <a:ext cx="193040" cy="914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8816848" y="4297680"/>
            <a:ext cx="193040" cy="-1325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009888" y="2971800"/>
            <a:ext cx="193040" cy="-18288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202928" y="2788920"/>
            <a:ext cx="193040" cy="-2286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95968" y="2560320"/>
            <a:ext cx="193040" cy="914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89008" y="2651760"/>
            <a:ext cx="193040" cy="45720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782048" y="3108960"/>
            <a:ext cx="193040" cy="100584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975088" y="4114800"/>
            <a:ext cx="193040" cy="45720"/>
          </a:xfrm>
          <a:prstGeom prst="line">
            <a:avLst/>
          </a:prstGeom>
          <a:noFill/>
          <a:ln w="25400">
            <a:solidFill>
              <a:srgbClr val="2563EB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937760" y="4965192"/>
            <a:ext cx="5303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工作日高、周末低，存在明显周期波动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SARIMA预测结果分析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模型能较好反映仿真数据中的周期性变化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0120" y="155448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06424" y="170078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14.678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1106424" y="2157984"/>
            <a:ext cx="2039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均方误差 MSE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703320" y="155448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9624" y="170078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3.831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3849624" y="2157984"/>
            <a:ext cx="2039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均方根误差 RMSE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46520" y="1554480"/>
            <a:ext cx="2331720" cy="1143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92824" y="1700784"/>
            <a:ext cx="20391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3.136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592824" y="2157984"/>
            <a:ext cx="2039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平均绝对误差 MAE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89720" y="1554480"/>
            <a:ext cx="1874520" cy="1143000"/>
          </a:xfrm>
          <a:prstGeom prst="roundRect">
            <a:avLst>
              <a:gd name="adj" fmla="val 4000"/>
            </a:avLst>
          </a:prstGeom>
          <a:solidFill>
            <a:srgbClr val="FEF3C7"/>
          </a:solidFill>
          <a:ln w="12700">
            <a:solidFill>
              <a:srgbClr val="FDE6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17830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残差检验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418320" y="21488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围绕零点随机波动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2400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无明显趋势性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1051560" y="3977640"/>
            <a:ext cx="9966960" cy="786384"/>
          </a:xfrm>
          <a:prstGeom prst="roundRect">
            <a:avLst>
              <a:gd name="adj" fmla="val 5814"/>
            </a:avLst>
          </a:prstGeom>
          <a:solidFill>
            <a:srgbClr val="F8FAFC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71600" y="4242816"/>
            <a:ext cx="9326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结论：在仿真数据条件下，预测值与实际门诊量差值处于可接受范围，能够为后续排班推荐提供参考。</a:t>
            </a:r>
            <a:endParaRPr lang="en-US" sz="14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基于预测结果的智能排班推荐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将“预测挂号量”转化为“排班建议”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1463040"/>
            <a:ext cx="10241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43000" y="173736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DC26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高负荷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423160" y="173736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就诊需求明显增加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074920" y="173736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增加医生、延长接诊、开放临时门诊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868680" y="2651760"/>
            <a:ext cx="10241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43000" y="292608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中负荷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423160" y="292608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门诊运行正常</a:t>
            </a:r>
            <a:endParaRPr lang="en-US" sz="1320" dirty="0"/>
          </a:p>
        </p:txBody>
      </p:sp>
      <p:sp>
        <p:nvSpPr>
          <p:cNvPr id="17" name="Text 15"/>
          <p:cNvSpPr/>
          <p:nvPr/>
        </p:nvSpPr>
        <p:spPr>
          <a:xfrm>
            <a:off x="5074920" y="292608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维持常规排班，关注号源变化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868680" y="3840480"/>
            <a:ext cx="10241280" cy="86868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43000" y="4114800"/>
            <a:ext cx="1051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低负荷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423160" y="41148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就诊需求较低</a:t>
            </a:r>
            <a:endParaRPr lang="en-US" sz="1320" dirty="0"/>
          </a:p>
        </p:txBody>
      </p:sp>
      <p:sp>
        <p:nvSpPr>
          <p:cNvPr id="21" name="Text 19"/>
          <p:cNvSpPr/>
          <p:nvPr/>
        </p:nvSpPr>
        <p:spPr>
          <a:xfrm>
            <a:off x="5074920" y="4114800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适当减少排班，提高资源利用率</a:t>
            </a:r>
            <a:endParaRPr lang="en-US" sz="1320" dirty="0"/>
          </a:p>
        </p:txBody>
      </p:sp>
      <p:sp>
        <p:nvSpPr>
          <p:cNvPr id="22" name="Shape 20"/>
          <p:cNvSpPr/>
          <p:nvPr/>
        </p:nvSpPr>
        <p:spPr>
          <a:xfrm>
            <a:off x="1874520" y="5230368"/>
            <a:ext cx="8412480" cy="512064"/>
          </a:xfrm>
          <a:prstGeom prst="roundRect">
            <a:avLst>
              <a:gd name="adj" fmla="val 8929"/>
            </a:avLst>
          </a:prstGeom>
          <a:solidFill>
            <a:srgbClr val="ECFDF5"/>
          </a:solidFill>
          <a:ln w="12700">
            <a:solidFill>
              <a:srgbClr val="BBF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5413248"/>
            <a:ext cx="7863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A34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示例：2026-05-03 预测挂号量 55，推荐医生数 6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系统测试与验证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核心功能、性能、安全与预测推荐均完成验证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测试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14400" y="1325880"/>
            <a:ext cx="102870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15453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2563E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业务功能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2743200" y="154533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注册登录、就诊人管理、预约挂号、排班维护、病历录入查询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9555480" y="152704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65208" y="1591056"/>
            <a:ext cx="649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" y="2286000"/>
            <a:ext cx="1028700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34440" y="250545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F766E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性能表现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2743200" y="250545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页面加载、普通查询、连续访问、Redis缓存优化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9555480" y="248716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0F766E">
              <a:alpha val="94000"/>
            </a:srgbClr>
          </a:solidFill>
          <a:ln w="12700">
            <a:solidFill>
              <a:srgbClr val="0F766E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65208" y="2551176"/>
            <a:ext cx="649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稳定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" y="3246120"/>
            <a:ext cx="1028700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346557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F59E0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安全机制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2743200" y="346557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未登录拦截、非法Token校验、权限访问控制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9555480" y="344728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65208" y="3511296"/>
            <a:ext cx="649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14400" y="4206240"/>
            <a:ext cx="10287000" cy="713232"/>
          </a:xfrm>
          <a:prstGeom prst="roundRect">
            <a:avLst>
              <a:gd name="adj" fmla="val 6410"/>
            </a:avLst>
          </a:prstGeom>
          <a:solidFill>
            <a:srgbClr val="F8FAFC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34440" y="442569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0891B2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预测推荐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2743200" y="4425696"/>
            <a:ext cx="5669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历史数据读取、预测生成、排班建议输出</a:t>
            </a:r>
            <a:endParaRPr lang="en-US" sz="1220" dirty="0"/>
          </a:p>
        </p:txBody>
      </p:sp>
      <p:sp>
        <p:nvSpPr>
          <p:cNvPr id="28" name="Shape 26"/>
          <p:cNvSpPr/>
          <p:nvPr/>
        </p:nvSpPr>
        <p:spPr>
          <a:xfrm>
            <a:off x="9555480" y="4407408"/>
            <a:ext cx="868680" cy="310896"/>
          </a:xfrm>
          <a:prstGeom prst="roundRect">
            <a:avLst>
              <a:gd name="adj" fmla="val 23529"/>
            </a:avLst>
          </a:prstGeom>
          <a:solidFill>
            <a:srgbClr val="16A34A">
              <a:alpha val="94000"/>
            </a:srgbClr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65208" y="4471416"/>
            <a:ext cx="64922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研究总结与不足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系统已完成一体化管理雏形，但仍需进一步工程化验证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总结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868680" y="1417320"/>
            <a:ext cx="4983480" cy="118872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73152" cy="11887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158191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主要成果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33272" y="1892808"/>
            <a:ext cx="47091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完成门诊挂号、医生排班、电子病历、权限认证等核心模块，实现门诊业务数据集中管理。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68680" y="2926080"/>
            <a:ext cx="4983480" cy="1188720"/>
          </a:xfrm>
          <a:prstGeom prst="roundRect">
            <a:avLst>
              <a:gd name="adj" fmla="val 3846"/>
            </a:avLst>
          </a:prstGeom>
          <a:solidFill>
            <a:srgbClr val="ECFE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2926080"/>
            <a:ext cx="73152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33272" y="3090672"/>
            <a:ext cx="4709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智能扩展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33272" y="3401568"/>
            <a:ext cx="47091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构建SARIMA预测模块，并依据预测结果形成高/中/低负荷排班推荐。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6355080" y="1417320"/>
            <a:ext cx="4800600" cy="2697480"/>
          </a:xfrm>
          <a:prstGeom prst="roundRect">
            <a:avLst>
              <a:gd name="adj" fmla="val 1695"/>
            </a:avLst>
          </a:prstGeom>
          <a:solidFill>
            <a:srgbClr val="FFF7ED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55080" y="1417320"/>
            <a:ext cx="73152" cy="26974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9672" y="1581912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现有不足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19672" y="1892808"/>
            <a:ext cx="4526280" cy="21671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基于仿真数据与实验环境；对突发因素、节假日异常波动适应能力有限；排班仍属于规则辅助。</a:t>
            </a:r>
            <a:endParaRPr lang="en-US" sz="11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27080" y="6437376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38912" y="6419088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94A3B8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毕业设计答辩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594360" y="438912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未来研究方向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94360" y="950976"/>
            <a:ext cx="96012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  <a:headEnd type="none"/>
            <a:tailEnd type="none"/>
          </a:ln>
        </p:spPr>
      </p:sp>
      <p:sp>
        <p:nvSpPr>
          <p:cNvPr id="7" name="Text 5"/>
          <p:cNvSpPr/>
          <p:nvPr/>
        </p:nvSpPr>
        <p:spPr>
          <a:xfrm>
            <a:off x="1691640" y="86868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继续提升预测精度、系统安全和真实场景适应能力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9646920" y="50292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0B1F3A">
              <a:alpha val="94000"/>
            </a:srgbClr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56648" y="566928"/>
            <a:ext cx="13533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展望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960120" y="1508760"/>
            <a:ext cx="2971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60120" y="1508760"/>
            <a:ext cx="73152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4712" y="16733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模型优化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24712" y="1984248"/>
            <a:ext cx="26974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引入LSTM等方法，增强复杂波动识别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4526280" y="1508760"/>
            <a:ext cx="2971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26280" y="1508760"/>
            <a:ext cx="73152" cy="960120"/>
          </a:xfrm>
          <a:prstGeom prst="rect">
            <a:avLst/>
          </a:prstGeom>
          <a:solidFill>
            <a:srgbClr val="0F766E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16733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排班优化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90872" y="1984248"/>
            <a:ext cx="26974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结合医生负荷、科室资源和患者需求</a:t>
            </a:r>
            <a:endParaRPr lang="en-US" sz="1180" dirty="0"/>
          </a:p>
        </p:txBody>
      </p:sp>
      <p:sp>
        <p:nvSpPr>
          <p:cNvPr id="18" name="Shape 16"/>
          <p:cNvSpPr/>
          <p:nvPr/>
        </p:nvSpPr>
        <p:spPr>
          <a:xfrm>
            <a:off x="8092440" y="1508760"/>
            <a:ext cx="2971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092440" y="1508760"/>
            <a:ext cx="73152" cy="960120"/>
          </a:xfrm>
          <a:prstGeom prst="rect">
            <a:avLst/>
          </a:prstGeom>
          <a:solidFill>
            <a:srgbClr val="0891B2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57032" y="16733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功能扩展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57032" y="1984248"/>
            <a:ext cx="26974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增加在线支付、消息提醒、移动端适配</a:t>
            </a:r>
            <a:endParaRPr lang="en-US" sz="1180" dirty="0"/>
          </a:p>
        </p:txBody>
      </p:sp>
      <p:sp>
        <p:nvSpPr>
          <p:cNvPr id="22" name="Shape 20"/>
          <p:cNvSpPr/>
          <p:nvPr/>
        </p:nvSpPr>
        <p:spPr>
          <a:xfrm>
            <a:off x="960120" y="3108960"/>
            <a:ext cx="2971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3108960"/>
            <a:ext cx="73152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24712" y="32735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安全增强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124712" y="3584448"/>
            <a:ext cx="26974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接口监控、数据加密、异常行为识别</a:t>
            </a:r>
            <a:endParaRPr lang="en-US" sz="1180" dirty="0"/>
          </a:p>
        </p:txBody>
      </p:sp>
      <p:sp>
        <p:nvSpPr>
          <p:cNvPr id="26" name="Shape 24"/>
          <p:cNvSpPr/>
          <p:nvPr/>
        </p:nvSpPr>
        <p:spPr>
          <a:xfrm>
            <a:off x="4526280" y="3108960"/>
            <a:ext cx="2971800" cy="96012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7EEF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26280" y="3108960"/>
            <a:ext cx="73152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690872" y="3273552"/>
            <a:ext cx="2697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场景验证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690872" y="3584448"/>
            <a:ext cx="2697480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5F6C7B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在真实医疗场景或仿真实训环境中验证</a:t>
            </a:r>
            <a:endParaRPr lang="en-US" sz="1180" dirty="0"/>
          </a:p>
        </p:txBody>
      </p:sp>
      <p:sp>
        <p:nvSpPr>
          <p:cNvPr id="30" name="Text 28"/>
          <p:cNvSpPr/>
          <p:nvPr/>
        </p:nvSpPr>
        <p:spPr>
          <a:xfrm>
            <a:off x="2834640" y="5715000"/>
            <a:ext cx="64922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1F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谢谢各位老师批评指正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南华大学计算机学院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基于时序预测的门诊挂号与电子病历一体化管理系统的设计与实现</dc:title>
  <dc:subject>毕业设计答辩PPT</dc:subject>
  <dc:creator>OpenAI</dc:creator>
  <cp:lastModifiedBy>OpenAI</cp:lastModifiedBy>
  <cp:revision>1</cp:revision>
  <dcterms:created xsi:type="dcterms:W3CDTF">2026-05-19T12:34:11Z</dcterms:created>
  <dcterms:modified xsi:type="dcterms:W3CDTF">2026-05-19T12:34:11Z</dcterms:modified>
</cp:coreProperties>
</file>